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5225470-6354-46F4-BE73-F6E70AA66D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24D2F9-F852-4074-A374-F3644C04D28C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664FEC-CE76-4728-9A80-ACCFC8C72257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F58F3A-2729-4B10-B0F7-8C01C1A4379B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94EC15-70B0-460C-BF02-57CE24805CF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F8D856-7C78-4FB5-BCDD-E4DD86F36BB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0D9313-ECEC-45B8-9D0F-0679EB5CF82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FE89BE-20F4-436E-BA8C-102ACAFBE1C1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375318-89F7-412C-A2E1-B725FD325C7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3EEB4B-F3DB-4F11-83A5-631817F39E7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389D40-61AC-4971-9256-82F563DB89C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BC5424-1BDC-415F-89F3-9EF40DF1104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1BD62B-0306-495B-A49E-499A9BF46B4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FC329E-7D62-4B00-A959-BA8525C2FBE0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30C8A1-03FB-4B43-9995-9D40435A6E9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228600" y="1313640"/>
            <a:ext cx="11466720" cy="48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Introduction</a:t>
            </a: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Unmanned Aerial Vehicles (UAVs) are increasingly used in surveillance, delivery, and defense applications requiring secure communication.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Secure authentication between UAVs and ground stations is critical to prevent unauthorized access, impersonation, and cyber attacks.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Physical Unclonable Functions (PUFs) provide lightweight hardware-based security without storing cryptographic keys, ideal for resource-constrained UAVs.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Motivation</a:t>
            </a: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Traditional cryptographic methods (RSA/ECC) require 5-10× higher computation and energy consumption, unsuitable for battery-powered UAVs.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UAV networks are vulnerable to impersonation, replay attacks, and device cloning through physical capture.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A lightweight and fast peer-to-peer authentication mechanism is required for secure UAV swarm communication without Ground Station dependency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1"/>
          <p:cNvGrpSpPr/>
          <p:nvPr/>
        </p:nvGrpSpPr>
        <p:grpSpPr>
          <a:xfrm>
            <a:off x="0" y="6480720"/>
            <a:ext cx="12190680" cy="375840"/>
            <a:chOff x="0" y="6480720"/>
            <a:chExt cx="12190680" cy="375840"/>
          </a:xfrm>
        </p:grpSpPr>
        <p:sp>
          <p:nvSpPr>
            <p:cNvPr id="67" name="Title 1"/>
            <p:cNvSpPr/>
            <p:nvPr/>
          </p:nvSpPr>
          <p:spPr>
            <a:xfrm>
              <a:off x="3286080" y="6480720"/>
              <a:ext cx="3661920" cy="3758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200" b="1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Roll No: 2301128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itle 1"/>
            <p:cNvSpPr/>
            <p:nvPr/>
          </p:nvSpPr>
          <p:spPr>
            <a:xfrm>
              <a:off x="0" y="6480720"/>
              <a:ext cx="3284640" cy="3758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2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Name: Md Ziyad Hussain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itle 1"/>
            <p:cNvSpPr/>
            <p:nvPr/>
          </p:nvSpPr>
          <p:spPr>
            <a:xfrm>
              <a:off x="6949440" y="6480720"/>
              <a:ext cx="5241240" cy="37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200" b="1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Supervisor: Dr. Rakesh Matam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itle 1"/>
          <p:cNvSpPr/>
          <p:nvPr/>
        </p:nvSpPr>
        <p:spPr>
          <a:xfrm>
            <a:off x="0" y="-3960"/>
            <a:ext cx="12190680" cy="11163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lang="en-IN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Fast Authentication Between UAVs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5" descr="A blue and white logo&#10;&#10;AI-generated content may be incorrect."/>
          <p:cNvPicPr/>
          <p:nvPr/>
        </p:nvPicPr>
        <p:blipFill>
          <a:blip r:embed="rId1"/>
          <a:srcRect l="30455" t="0" r="30285" b="0"/>
          <a:stretch/>
        </p:blipFill>
        <p:spPr>
          <a:xfrm>
            <a:off x="11064240" y="-9000"/>
            <a:ext cx="1126440" cy="112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5"/>
          <p:cNvGrpSpPr/>
          <p:nvPr/>
        </p:nvGrpSpPr>
        <p:grpSpPr>
          <a:xfrm>
            <a:off x="0" y="-9000"/>
            <a:ext cx="12190680" cy="1127160"/>
            <a:chOff x="0" y="-9000"/>
            <a:chExt cx="12190680" cy="1127160"/>
          </a:xfrm>
        </p:grpSpPr>
        <p:sp>
          <p:nvSpPr>
            <p:cNvPr id="73" name="Title 1"/>
            <p:cNvSpPr/>
            <p:nvPr/>
          </p:nvSpPr>
          <p:spPr>
            <a:xfrm>
              <a:off x="0" y="-3960"/>
              <a:ext cx="12190680" cy="111636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4400" b="0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Existing work / Literature review:</a:t>
              </a:r>
              <a:endPara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4" name="Picture 7" descr="A blue and white logo&#10;&#10;AI-generated content may be incorrect."/>
            <p:cNvPicPr/>
            <p:nvPr/>
          </p:nvPicPr>
          <p:blipFill>
            <a:blip r:embed="rId1"/>
            <a:srcRect l="30455" t="0" r="30285" b="0"/>
            <a:stretch/>
          </p:blipFill>
          <p:spPr>
            <a:xfrm>
              <a:off x="11064240" y="-9000"/>
              <a:ext cx="1126440" cy="11271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228600" y="1262160"/>
            <a:ext cx="11466720" cy="48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Several authentication protocols rely on Public Key Infrastructure (PKI) and symmetric cryptography with high computational overhead.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Lightweight cryptographic approaches use hash functions (SPONGENT, SHA-3) and XOR operations to reduce computation by 50-90%.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PUF-based authentication methods generate unique hardware fingerprints from manufacturing variations for secure device identification without key storage.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Gaps in the existing solutions/work</a:t>
            </a: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Many existing methods require high computational resources (RSA/ECC) unsuitable for small UAVs with limited processing power.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Protocols relying on stored secret keys are vulnerable to physical attacks and memory extraction when UAVs are captured.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Limited solutions provide fast peer-to-peer mutual authentication between UAVs in swarm environments without Ground Station involvement.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1"/>
          <p:cNvGrpSpPr/>
          <p:nvPr/>
        </p:nvGrpSpPr>
        <p:grpSpPr>
          <a:xfrm>
            <a:off x="0" y="6480720"/>
            <a:ext cx="12190680" cy="375840"/>
            <a:chOff x="0" y="6480720"/>
            <a:chExt cx="12190680" cy="375840"/>
          </a:xfrm>
        </p:grpSpPr>
        <p:sp>
          <p:nvSpPr>
            <p:cNvPr id="77" name="Title 1"/>
            <p:cNvSpPr/>
            <p:nvPr/>
          </p:nvSpPr>
          <p:spPr>
            <a:xfrm>
              <a:off x="2212920" y="6480720"/>
              <a:ext cx="4735080" cy="3758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300" b="1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Roll No: 2301128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itle 1"/>
            <p:cNvSpPr/>
            <p:nvPr/>
          </p:nvSpPr>
          <p:spPr>
            <a:xfrm>
              <a:off x="0" y="6480720"/>
              <a:ext cx="2211480" cy="3758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3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Name: Md Ziyad Hussain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itle 1"/>
            <p:cNvSpPr/>
            <p:nvPr/>
          </p:nvSpPr>
          <p:spPr>
            <a:xfrm>
              <a:off x="4864680" y="6480720"/>
              <a:ext cx="7326000" cy="37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300" b="1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Project Title: Fast Authentication Between UAVs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5"/>
          <p:cNvGrpSpPr/>
          <p:nvPr/>
        </p:nvGrpSpPr>
        <p:grpSpPr>
          <a:xfrm>
            <a:off x="0" y="-9000"/>
            <a:ext cx="12190680" cy="1127160"/>
            <a:chOff x="0" y="-9000"/>
            <a:chExt cx="12190680" cy="1127160"/>
          </a:xfrm>
        </p:grpSpPr>
        <p:sp>
          <p:nvSpPr>
            <p:cNvPr id="81" name="Title 1"/>
            <p:cNvSpPr/>
            <p:nvPr/>
          </p:nvSpPr>
          <p:spPr>
            <a:xfrm>
              <a:off x="0" y="-3960"/>
              <a:ext cx="12190680" cy="111636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4400" b="0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Work Done till date:</a:t>
              </a:r>
              <a:endPara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2" name="Picture 7" descr="A blue and white logo&#10;&#10;AI-generated content may be incorrect."/>
            <p:cNvPicPr/>
            <p:nvPr/>
          </p:nvPicPr>
          <p:blipFill>
            <a:blip r:embed="rId1"/>
            <a:srcRect l="30455" t="0" r="30285" b="0"/>
            <a:stretch/>
          </p:blipFill>
          <p:spPr>
            <a:xfrm>
              <a:off x="11064240" y="-9000"/>
              <a:ext cx="1126440" cy="11271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228600" y="1143000"/>
            <a:ext cx="11466720" cy="536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Studied UAV network security challenges, analyzed Ring Oscillator and Arbiter PUF architectures suitable for resource-constrained hardware.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</a:rPr>
              <a:t>Reviewed lightweight cryptographic methods including SPONGENT-160 hash functions and BCH(255,131,18) error correction for PUF reliability.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Details of Proposed Work / Solution: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  <a:ea typeface="Noto Sans CJK SC"/>
              </a:rPr>
              <a:t>Develop a four-phase authentication framework: (1) Enrollment with Ground Station, (2) UAV-GS authentication, (3) Peer-to-peer UAV authentication, (4) Secure session key establishment, for secure UAV communication.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  <a:ea typeface="Noto Sans CJK SC"/>
              </a:rPr>
              <a:t>Use PUF challenge-response pairs to generate unique device identities without storing secret keys, combined with SPONGENT-160 hash and XOR operations.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Result achieved: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  <a:ea typeface="Noto Sans CJK SC"/>
              </a:rPr>
              <a:t>Designed secure architecture achieving &lt;1ms peer-to-peer authentication latency, 10-18× faster than traditional PKI methods (RSA/ECC).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  <a:ea typeface="Noto Sans CJK SC"/>
              </a:rPr>
              <a:t>Achieved lightweight authentication with only 430 bytes total communication overhead, suitable for resource-constrained UAV hardware.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 (Body)"/>
                <a:ea typeface="Noto Sans CJK SC"/>
              </a:rPr>
              <a:t>Proposed protocol enables fast swarm formation with direct UAV-UAV authentication without Ground Station dependency, ensuring resilient operations.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1"/>
          <p:cNvGrpSpPr/>
          <p:nvPr/>
        </p:nvGrpSpPr>
        <p:grpSpPr>
          <a:xfrm>
            <a:off x="0" y="6480720"/>
            <a:ext cx="12190320" cy="375840"/>
            <a:chOff x="0" y="6480720"/>
            <a:chExt cx="12190320" cy="375840"/>
          </a:xfrm>
        </p:grpSpPr>
        <p:sp>
          <p:nvSpPr>
            <p:cNvPr id="85" name="Title 1"/>
            <p:cNvSpPr/>
            <p:nvPr/>
          </p:nvSpPr>
          <p:spPr>
            <a:xfrm>
              <a:off x="3200400" y="6480720"/>
              <a:ext cx="3083400" cy="3758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400" b="1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Roll No:  2301128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itle 1"/>
            <p:cNvSpPr/>
            <p:nvPr/>
          </p:nvSpPr>
          <p:spPr>
            <a:xfrm>
              <a:off x="0" y="6480720"/>
              <a:ext cx="3198960" cy="3758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2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Name: Md Ziyad Hussain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Title 1"/>
            <p:cNvSpPr/>
            <p:nvPr/>
          </p:nvSpPr>
          <p:spPr>
            <a:xfrm>
              <a:off x="6285240" y="6480720"/>
              <a:ext cx="5905080" cy="37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90000"/>
                </a:lnSpc>
              </a:pPr>
              <a:r>
                <a:rPr lang="en-IN" sz="1200" b="1" u="none" strike="noStrike">
                  <a:solidFill>
                    <a:schemeClr val="dk1"/>
                  </a:solidFill>
                  <a:effectLst/>
                  <a:uFillTx/>
                  <a:latin typeface="Calibri Light"/>
                </a:rPr>
                <a:t>Project Title: Fast Authentication Between UAVs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Application>LibreOffice/25.8.4.2$Linux_X86_64 LibreOffice_project/580$Build-2</Application>
  <AppVersion>15.0000</AppVersion>
  <Words>80</Words>
  <Paragraphs>42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2025-09-08T13:03:57Z</dcterms:created>
  <dc:creator>Manojit Ghose</dc:creator>
  <dc:description/>
  <dc:language>en-US</dc:language>
  <cp:lastModifiedBy/>
  <dcterms:modified xsi:type="dcterms:W3CDTF">2026-03-12T16:55:18Z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3</vt:i4>
  </property>
</Properties>
</file>